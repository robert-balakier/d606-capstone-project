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Elevated-result recall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B7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Standard Logistic</c:v>
                  </c:pt>
                  <c:pt idx="1">
                    <c:v>Random Forest</c:v>
                  </c:pt>
                  <c:pt idx="2">
                    <c:v>Balanced Logistic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1.39</c:v>
                </c:pt>
                <c:pt idx="1">
                  <c:v>48.61</c:v>
                </c:pt>
                <c:pt idx="2">
                  <c:v>61.11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D606 Capstone  •  Robert Balakier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94360" y="6400800"/>
            <a:ext cx="1097280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30952"/>
            <a:ext cx="12191695" cy="1527048"/>
          </a:xfrm>
          <a:prstGeom prst="rect">
            <a:avLst/>
          </a:prstGeom>
          <a:solidFill>
            <a:srgbClr val="2B7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8869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Predicting Elevated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Environmental Monitoring Results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8F0"/>
                </a:solidFill>
              </a:rPr>
              <a:t>D606 Data Science Capstone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5559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Robert Balakier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Task 3 • Presentation of Findings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The Problem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C78"/>
                </a:solidFill>
              </a:rPr>
              <a:t>Rare elevated results make prediction difficult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019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24D"/>
                </a:solidFill>
              </a:rPr>
              <a:t>10,531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2578608"/>
            <a:ext cx="24688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environmental monitoring samples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9019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24D"/>
                </a:solidFill>
              </a:rPr>
              <a:t>359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846320" y="2578608"/>
            <a:ext cx="24688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Alert / Action results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173736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19019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4A4A"/>
                </a:solidFill>
              </a:rPr>
              <a:t>3.41%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732520" y="2578608"/>
            <a:ext cx="24688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of samples were elevated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7A78"/>
                </a:solidFill>
              </a:rPr>
              <a:t>Research question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343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</a:rPr>
              <a:t>Can a logistic regression model be constructed on the environmental dataset?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68680" y="5166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</a:rPr>
              <a:t>Hypothesis: logistic regression can be constructed at &gt;70% accuracy.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5806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C78"/>
                </a:solidFill>
              </a:rPr>
              <a:t>(FDA, 2004; Wong et al., 2000; Hosmer et al., 2013)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Data &amp; Analysis Process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C78"/>
                </a:solidFill>
              </a:rPr>
              <a:t>A reproducible workflow in 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148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1572768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1746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Prepare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Create binary target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and prevent leakage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7432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7A78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611880" y="1965960"/>
            <a:ext cx="2148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572768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746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Split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9476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80% training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20% testing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0" y="27432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7A78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46520" y="1965960"/>
            <a:ext cx="2148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9752" y="1572768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1746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Model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62940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Logistic regression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Balanced logistic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0" y="27432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7A78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281160" y="1965960"/>
            <a:ext cx="2148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4392" y="1572768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1746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1832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Compare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46404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Accuracy, recall,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precision and F1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48920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</a:rPr>
              <a:t>Predictors: department • area • sampling location • zone • frequency • year • season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" y="54406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Outcome: Acceptable = 0   |   Alert / Action = 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The Surprising Finding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C78"/>
                </a:solidFill>
              </a:rPr>
              <a:t>High accuracy did not mean strong prediction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4069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4767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24D"/>
                </a:solidFill>
              </a:rPr>
              <a:t>96.63%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34440" y="2624328"/>
            <a:ext cx="370332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Logistic regression accuracy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86600" y="1783080"/>
            <a:ext cx="4069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94767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4A4A"/>
                </a:solidFill>
              </a:rPr>
              <a:t>96.58%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269480" y="2624328"/>
            <a:ext cx="370332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Baseline: predict every sample as acceptable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443484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7A78"/>
                </a:solidFill>
              </a:rPr>
              <a:t>Only 0.05 percentage points better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5166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2933"/>
                </a:solidFill>
              </a:rPr>
              <a:t>Because 96.59% of all observations were acceptable, accuracy alone was misleading.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5852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C78"/>
                </a:solidFill>
              </a:rPr>
              <a:t>(Saito &amp; Rehmsmeier, 2015)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Could the Models Find Elevated Results?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C78"/>
                </a:solidFill>
              </a:rPr>
              <a:t>Recall = proportion of actual elevated samples identified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1691640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82880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4A4A"/>
                </a:solidFill>
              </a:rPr>
              <a:t>1 / 72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138160" y="2670048"/>
            <a:ext cx="2560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Standard logistic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315468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33192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98B2F"/>
                </a:solidFill>
              </a:rPr>
              <a:t>35 / 72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138160" y="3995928"/>
            <a:ext cx="2560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955280" y="448056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46451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7D5C"/>
                </a:solidFill>
              </a:rPr>
              <a:t>44 / 72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138160" y="5321808"/>
            <a:ext cx="2560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Balanced logistic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The Tradeoff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C78"/>
                </a:solidFill>
              </a:rPr>
              <a:t>Better detection also created more false alarms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7D5C"/>
                </a:solidFill>
              </a:rPr>
              <a:t>44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2670048"/>
            <a:ext cx="25603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elevated results correctly identified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8288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4A4A"/>
                </a:solidFill>
              </a:rPr>
              <a:t>28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800600" y="2670048"/>
            <a:ext cx="25603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elevated results still missed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6760" y="18288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98B2F"/>
                </a:solidFill>
              </a:rPr>
              <a:t>496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549640" y="2670048"/>
            <a:ext cx="25603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acceptable results incorrectly flagged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508760" y="4434840"/>
            <a:ext cx="9144000" cy="960120"/>
          </a:xfrm>
          <a:prstGeom prst="roundRect">
            <a:avLst/>
          </a:prstGeom>
          <a:solidFill>
            <a:srgbClr val="E7ED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4617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Balanced logistic regression is better suited as a screening tool — not an automated quality decision system.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Recommendation &amp; Expected Benefit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C78"/>
                </a:solidFill>
              </a:rPr>
              <a:t>Use prediction to prioritize attention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7A78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0424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15798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Use balanced logistic regression as a risk-screening and prioritization tool, while actual microbial results remain the basis for quality decisions.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Quantitative benefit demonstrated in the test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08760" y="41605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43251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4A4A"/>
                </a:solidFill>
              </a:rPr>
              <a:t>1 / 72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91640" y="5001768"/>
            <a:ext cx="21945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elevated results found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by standard logistic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45262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7A78"/>
                </a:solidFill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983480" y="41605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3251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7D5C"/>
                </a:solidFill>
              </a:rPr>
              <a:t>44 / 72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166360" y="5001768"/>
            <a:ext cx="21945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elevated results found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by balanced logistic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0" y="416052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43251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</a:rPr>
              <a:t>+43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12480" y="5001768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additional elevated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samples identified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Limitations &amp; Next Steps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7A78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4572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Synthetic data may not fully represent real manufacturing conditions.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4572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Only 3.41% of samples were elevated, making the minority class difficult to predict.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4572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Higher recall produced many false-positive predictions.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7A78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4572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16712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Validate the approach using real-world or independently generated monitoring data.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4572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3558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Evaluate threshold tuning, resampling, and other rare-event classification methods.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4572000"/>
            <a:ext cx="4572000" cy="96012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7365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Key takeaway: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hypothesis was supported, but accuracy alone was not enough.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References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960120" cy="457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1001268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Balakier, R. (2026). Environmental monitoring microbial results [Data set]. Kaggle.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Breiman, L. (2001). Random forests. Machine Learning, 45, 5–32.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Dong, L., Zhao, X., Wu, Q., &amp; Yang, Y. (2009). Logistic regression for prediction and diagnosis of bacterial regrowth in water distribution system. Transactions of Tianjin University, 15, 371–374.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Hosmer, D. W., Lemeshow, S., &amp; Sturdivant, R. X. (2013). Applied logistic regression (3rd ed.). Wiley.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Saito, T., &amp; Rehmsmeier, M. (2015). The precision-recall plot is more informative than the ROC plot when evaluating binary classifiers on imbalanced datasets. PLOS ONE, 10(3), e0118432.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U.S. Food and Drug Administration. (2004). Sterile drug products produced by aseptic processing—Current good manufacturing practice: Guidance for industry.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</a:rPr>
              <a:t>Wong, S., Street, D., Delgado, S. I., &amp; Klontz, K. C. (2000). Recalls of foods and cosmetics due to microbial contamination reported to the U.S. Food and Drug Administration. Journal of Food Protection, 63(8), 1113–1116.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C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Elevated Environmental Monitoring Results</dc:title>
  <dc:subject>D606 Task 3</dc:subject>
  <dc:creator>Robert Balakier</dc:creator>
  <cp:lastModifiedBy>Robert Balakier</cp:lastModifiedBy>
  <cp:revision>1</cp:revision>
  <dcterms:created xsi:type="dcterms:W3CDTF">2026-09-03T20:24:17Z</dcterms:created>
  <dcterms:modified xsi:type="dcterms:W3CDTF">2026-09-03T20:24:17Z</dcterms:modified>
</cp:coreProperties>
</file>